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9" r:id="rId13"/>
    <p:sldId id="268" r:id="rId14"/>
    <p:sldId id="266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7B850D-8125-41CC-805F-CBBDEE70F53E}" v="183" dt="2026-04-16T16:04:11.5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034" autoAdjust="0"/>
    <p:restoredTop sz="94660"/>
  </p:normalViewPr>
  <p:slideViewPr>
    <p:cSldViewPr snapToGrid="0">
      <p:cViewPr>
        <p:scale>
          <a:sx n="73" d="100"/>
          <a:sy n="73" d="100"/>
        </p:scale>
        <p:origin x="2342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A47468-792D-4AB9-9788-336B87328B79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F6962-AFF7-4F66-B376-32B72FDA3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682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6F6962-AFF7-4F66-B376-32B72FDA371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797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6F6962-AFF7-4F66-B376-32B72FDA3715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087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2999" y="4766733"/>
            <a:ext cx="6858000" cy="871008"/>
          </a:xfr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Mathematics and Statistics 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IIT Kanpur 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331397-01CB-7E6C-3E26-C5FFB1AB43CF}"/>
              </a:ext>
            </a:extLst>
          </p:cNvPr>
          <p:cNvSpPr/>
          <p:nvPr/>
        </p:nvSpPr>
        <p:spPr>
          <a:xfrm>
            <a:off x="169682" y="1371088"/>
            <a:ext cx="8804635" cy="126188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Moreau-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Yosida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Parallel Tempering</a:t>
            </a:r>
          </a:p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MTH496: Undergraduate Project I 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IN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D92B02-D246-E4B9-919C-8E8876BEF592}"/>
              </a:ext>
            </a:extLst>
          </p:cNvPr>
          <p:cNvSpPr txBox="1"/>
          <p:nvPr/>
        </p:nvSpPr>
        <p:spPr>
          <a:xfrm>
            <a:off x="2064469" y="3295777"/>
            <a:ext cx="501505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Lipika Bagai (230604)</a:t>
            </a:r>
          </a:p>
          <a:p>
            <a:pPr algn="ctr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Supervisor: Prof.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Dootika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Vats</a:t>
            </a:r>
          </a:p>
          <a:p>
            <a:pPr algn="ctr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48CCA5-3F88-9B32-45B6-1C249038CB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2963" y="1112363"/>
                <a:ext cx="8530526" cy="2138792"/>
              </a:xfrm>
            </p:spPr>
            <p:txBody>
              <a:bodyPr vert="horz" lIns="68580" tIns="34290" rIns="68580" bIns="34290" rtlCol="0" anchor="t">
                <a:noAutofit/>
              </a:bodyPr>
              <a:lstStyle/>
              <a:p>
                <a:pPr marL="0" indent="0">
                  <a:buNone/>
                </a:pPr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Our work addresses the problem of sampling from complex multi-modal target distributions, defined as:</a:t>
                </a:r>
              </a:p>
              <a:p>
                <a:pPr marL="0" indent="0" algn="ctr">
                  <a:buNone/>
                </a:pPr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100" i="1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𝜋</m:t>
                    </m:r>
                    <m:d>
                      <m:dPr>
                        <m:ctrlPr>
                          <a:rPr lang="pl-PL" sz="2100" i="1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dPr>
                      <m:e>
                        <m:r>
                          <a:rPr lang="pl-PL" sz="2100" i="1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𝑥</m:t>
                        </m:r>
                      </m:e>
                    </m:d>
                    <m:r>
                      <a:rPr lang="pl-PL" sz="2100" i="1">
                        <a:latin typeface="Cambria Math" panose="02040503050406030204" pitchFamily="18" charset="0"/>
                        <a:ea typeface="+mn-lt"/>
                        <a:cs typeface="+mn-lt"/>
                      </a:rPr>
                      <m:t>∝</m:t>
                    </m:r>
                    <m:func>
                      <m:funcPr>
                        <m:ctrlPr>
                          <a:rPr lang="pl-PL" sz="2100" i="1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10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pl-PL" sz="2100" i="1"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</m:ctrlPr>
                          </m:dPr>
                          <m:e>
                            <m:r>
                              <a:rPr lang="pl-PL" sz="2100" i="1"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−</m:t>
                            </m:r>
                            <m:r>
                              <a:rPr lang="pl-PL" sz="2100" i="1"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𝑈</m:t>
                            </m:r>
                            <m:d>
                              <m:dPr>
                                <m:ctrlPr>
                                  <a:rPr lang="pl-PL" sz="2100" i="1">
                                    <a:latin typeface="Cambria Math" panose="02040503050406030204" pitchFamily="18" charset="0"/>
                                    <a:ea typeface="+mn-lt"/>
                                    <a:cs typeface="+mn-lt"/>
                                  </a:rPr>
                                </m:ctrlPr>
                              </m:dPr>
                              <m:e>
                                <m:r>
                                  <a:rPr lang="pl-PL" sz="2100" i="1">
                                    <a:latin typeface="Cambria Math" panose="02040503050406030204" pitchFamily="18" charset="0"/>
                                    <a:ea typeface="+mn-lt"/>
                                    <a:cs typeface="+mn-lt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standard computational framework for this is Markov Chain Monte Carlo (MCMC), specifically the Metropolis-Hastings (MH) algorithm. It explores the parameter space by taking localized steps.</a:t>
                </a:r>
              </a:p>
              <a:p>
                <a:pPr marL="0" indent="0">
                  <a:buNone/>
                </a:pPr>
                <a:endParaRPr lang="en-US" sz="2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48CCA5-3F88-9B32-45B6-1C249038CB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2963" y="1112363"/>
                <a:ext cx="8530526" cy="2138792"/>
              </a:xfrm>
              <a:blipFill>
                <a:blip r:embed="rId2"/>
                <a:stretch>
                  <a:fillRect l="-1144" t="-3704" r="-929" b="-39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EDADF53-5C6B-E2F6-8658-5BFAF40BDD79}"/>
              </a:ext>
            </a:extLst>
          </p:cNvPr>
          <p:cNvSpPr txBox="1"/>
          <p:nvPr/>
        </p:nvSpPr>
        <p:spPr>
          <a:xfrm>
            <a:off x="4114800" y="297415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9288C79-29CC-7F86-E9F8-0A4F095733CF}"/>
              </a:ext>
            </a:extLst>
          </p:cNvPr>
          <p:cNvSpPr txBox="1">
            <a:spLocks/>
          </p:cNvSpPr>
          <p:nvPr/>
        </p:nvSpPr>
        <p:spPr>
          <a:xfrm>
            <a:off x="-46009" y="-51758"/>
            <a:ext cx="9247517" cy="8530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Sampling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D72241C-8CF3-B40D-A57E-EC675D0F5237}"/>
                  </a:ext>
                </a:extLst>
              </p:cNvPr>
              <p:cNvSpPr/>
              <p:nvPr/>
            </p:nvSpPr>
            <p:spPr>
              <a:xfrm>
                <a:off x="395991" y="3331282"/>
                <a:ext cx="8351889" cy="3291047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3810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t"/>
              <a:lstStyle/>
              <a:p>
                <a:pPr lvl="1">
                  <a:lnSpc>
                    <a:spcPct val="150000"/>
                  </a:lnSpc>
                </a:pPr>
                <a:r>
                  <a:rPr lang="en-US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Metropolis Hastings Algorithm</a:t>
                </a:r>
              </a:p>
              <a:p>
                <a:pPr lvl="1">
                  <a:lnSpc>
                    <a:spcPct val="150000"/>
                  </a:lnSpc>
                </a:pPr>
                <a:endParaRPr lang="en-US" sz="5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r>
                  <a:rPr lang="en-US" sz="21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  Given the current state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en-IN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𝑥</m:t>
                        </m:r>
                      </m:e>
                      <m:sub>
                        <m:r>
                          <a:rPr lang="en-IN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100" baseline="-25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 </a:t>
                </a:r>
                <a:r>
                  <a:rPr lang="en-US" sz="21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 candidate state </a:t>
                </a:r>
                <a14:m>
                  <m:oMath xmlns:m="http://schemas.openxmlformats.org/officeDocument/2006/math">
                    <m:r>
                      <a:rPr lang="en-IN" sz="2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en-US" sz="21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 is drawn from a proposal distribution </a:t>
                </a:r>
                <a14:m>
                  <m:oMath xmlns:m="http://schemas.openxmlformats.org/officeDocument/2006/math">
                    <m:r>
                      <a:rPr lang="en-IN" sz="2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𝑞</m:t>
                    </m:r>
                    <m:d>
                      <m:dPr>
                        <m:ctrlPr>
                          <a:rPr lang="en-IN" sz="2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IN" sz="2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e>
                        <m:sSub>
                          <m:sSubPr>
                            <m:ctrlPr>
                              <a:rPr lang="en-IN" sz="2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IN" sz="2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1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1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2.  The proposed move is accepted with probability:</a:t>
                </a:r>
              </a:p>
              <a:p>
                <a:pPr marL="342900" lvl="1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𝛼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,</m:t>
                          </m:r>
                          <m:r>
                            <a:rPr lang="en-US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𝑦</m:t>
                          </m:r>
                        </m:e>
                      </m:d>
                      <m:r>
                        <a:rPr lang="en-US" sz="2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=</m:t>
                      </m:r>
                      <m:func>
                        <m:funcPr>
                          <m:ctrlPr>
                            <a:rPr lang="en-US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1,</m:t>
                              </m:r>
                              <m:f>
                                <m:fPr>
                                  <m:ctrlPr>
                                    <a:rPr lang="en-US" sz="2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</m:ctrlPr>
                                </m:fPr>
                                <m:num>
                                  <m:r>
                                    <a:rPr lang="en-US" sz="2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𝜋</m:t>
                                  </m:r>
                                  <m:d>
                                    <m:dPr>
                                      <m:ctrlPr>
                                        <a:rPr lang="en-US" sz="2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libri"/>
                                          <a:cs typeface="Calibri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libri"/>
                                          <a:cs typeface="Calibri"/>
                                        </a:rPr>
                                        <m:t>𝑦</m:t>
                                      </m:r>
                                    </m:e>
                                  </m:d>
                                  <m:r>
                                    <a:rPr lang="en-US" sz="2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sz="2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libri"/>
                                          <a:cs typeface="Calibri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libri"/>
                                              <a:cs typeface="Calibri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libri"/>
                                              <a:cs typeface="Calibri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libri"/>
                                              <a:cs typeface="Calibri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libri"/>
                                          <a:cs typeface="Calibri"/>
                                        </a:rPr>
                                        <m:t>𝑦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𝜋</m:t>
                                  </m:r>
                                  <m:d>
                                    <m:dPr>
                                      <m:ctrlPr>
                                        <a:rPr lang="en-US" sz="2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libri"/>
                                          <a:cs typeface="Calibri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libri"/>
                                              <a:cs typeface="Calibri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libri"/>
                                              <a:cs typeface="Calibri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libri"/>
                                              <a:cs typeface="Calibri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sz="2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libri"/>
                                          <a:cs typeface="Calibri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libri"/>
                                          <a:cs typeface="Calibri"/>
                                        </a:rPr>
                                        <m:t>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libri"/>
                                              <a:cs typeface="Calibri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libri"/>
                                              <a:cs typeface="Calibri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libri"/>
                                              <a:cs typeface="Calibri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2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lvl="1">
                  <a:lnSpc>
                    <a:spcPct val="100000"/>
                  </a:lnSpc>
                </a:pPr>
                <a:endParaRPr lang="en-US" sz="9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r>
                  <a:rPr lang="en-US" sz="21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3.  Update rule: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en-IN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𝑥</m:t>
                        </m:r>
                      </m:e>
                      <m:sub>
                        <m:r>
                          <a:rPr lang="en-IN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𝑡</m:t>
                        </m:r>
                        <m:r>
                          <a:rPr lang="en-IN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+1</m:t>
                        </m:r>
                      </m:sub>
                    </m:sSub>
                    <m:r>
                      <a:rPr lang="en-IN" sz="2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=</m:t>
                    </m:r>
                    <m:r>
                      <a:rPr lang="en-IN" sz="2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𝑦</m:t>
                    </m:r>
                  </m:oMath>
                </a14:m>
                <a:r>
                  <a:rPr lang="en-US" sz="21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with probability </a:t>
                </a:r>
                <a14:m>
                  <m:oMath xmlns:m="http://schemas.openxmlformats.org/officeDocument/2006/math">
                    <m:r>
                      <a:rPr lang="en-IN" sz="2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𝛼</m:t>
                    </m:r>
                  </m:oMath>
                </a14:m>
                <a:r>
                  <a:rPr lang="en-US" sz="21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; otherwise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en-IN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𝑥</m:t>
                        </m:r>
                      </m:e>
                      <m:sub>
                        <m:r>
                          <a:rPr lang="en-IN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𝑡</m:t>
                        </m:r>
                        <m:r>
                          <a:rPr lang="en-IN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+1</m:t>
                        </m:r>
                      </m:sub>
                    </m:sSub>
                    <m:r>
                      <a:rPr lang="en-IN" sz="2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=</m:t>
                    </m:r>
                    <m:sSub>
                      <m:sSubPr>
                        <m:ctrlPr>
                          <a:rPr lang="en-IN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en-IN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𝑥</m:t>
                        </m:r>
                      </m:e>
                      <m:sub>
                        <m:r>
                          <a:rPr lang="en-IN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D72241C-8CF3-B40D-A57E-EC675D0F52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1" y="3331282"/>
                <a:ext cx="8351889" cy="32910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DDBF2B8-5296-5365-A28F-D8AA88DC82D5}"/>
              </a:ext>
            </a:extLst>
          </p:cNvPr>
          <p:cNvCxnSpPr>
            <a:cxnSpLocks/>
          </p:cNvCxnSpPr>
          <p:nvPr/>
        </p:nvCxnSpPr>
        <p:spPr>
          <a:xfrm>
            <a:off x="395990" y="3949831"/>
            <a:ext cx="835189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03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174352-5029-16EE-675A-59D9F2616A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610" y="1602378"/>
                <a:ext cx="8502977" cy="3321065"/>
              </a:xfrm>
            </p:spPr>
            <p:txBody>
              <a:bodyPr vert="horz" lIns="68580" tIns="34290" rIns="68580" bIns="34290" rtlCol="0" anchor="t">
                <a:norm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multimodal target densities,</a:t>
                </a:r>
                <a14:m>
                  <m:oMath xmlns:m="http://schemas.openxmlformats.org/officeDocument/2006/math">
                    <m:r>
                      <a:rPr lang="en-IN" sz="2100" b="0" i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</m:t>
                    </m:r>
                  </m:oMath>
                </a14:m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potential energy </a:t>
                </a:r>
                <a14:m>
                  <m:oMath xmlns:m="http://schemas.openxmlformats.org/officeDocument/2006/math">
                    <m:r>
                      <a:rPr lang="en-IN" sz="21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𝑈</m:t>
                    </m:r>
                    <m:d>
                      <m:dPr>
                        <m:ctrlPr>
                          <a:rPr lang="en-IN" sz="21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dPr>
                      <m:e>
                        <m:r>
                          <a:rPr lang="en-IN" sz="21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 contains multiple distinct local minima separated by high-energy barriers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i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Δ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𝑈</m:t>
                    </m:r>
                  </m:oMath>
                </a14:m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MH acceptance probability </a:t>
                </a:r>
                <a14:m>
                  <m:oMath xmlns:m="http://schemas.openxmlformats.org/officeDocument/2006/math">
                    <m:r>
                      <a:rPr lang="en-IN" sz="210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𝛼</m:t>
                    </m:r>
                    <m:r>
                      <a:rPr lang="en-IN" sz="210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∝</m:t>
                    </m:r>
                    <m:r>
                      <m:rPr>
                        <m:sty m:val="p"/>
                      </m:rPr>
                      <a:rPr lang="en-IN" sz="2100" i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exp</m:t>
                    </m:r>
                    <m:d>
                      <m:dPr>
                        <m:ctrlPr>
                          <a:rPr lang="en-IN" sz="210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dPr>
                      <m:e>
                        <m:r>
                          <a:rPr lang="en-IN" sz="210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100" i="0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Δ</m:t>
                        </m:r>
                        <m:r>
                          <a:rPr lang="en-IN" sz="210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𝑈</m:t>
                        </m:r>
                      </m:e>
                    </m:d>
                    <m:r>
                      <a:rPr lang="en-IN" sz="21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</m:t>
                    </m:r>
                  </m:oMath>
                </a14:m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approaches zero across high-energy barriers.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sampler gets permanently stuck in the mode it discovers first, failing to consider other modes and recover the true distribution.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 is because the algorithm proposes jumps local to the current mode, so it cannot cross the wide, low-probability valleys that separate the different modes. 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174352-5029-16EE-675A-59D9F2616A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610" y="1602378"/>
                <a:ext cx="8502977" cy="3321065"/>
              </a:xfrm>
              <a:blipFill>
                <a:blip r:embed="rId2"/>
                <a:stretch>
                  <a:fillRect l="-1004" t="-2385" r="-17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B4F387-3D42-5216-D695-24A6EA462876}"/>
              </a:ext>
            </a:extLst>
          </p:cNvPr>
          <p:cNvCxnSpPr>
            <a:cxnSpLocks/>
          </p:cNvCxnSpPr>
          <p:nvPr/>
        </p:nvCxnSpPr>
        <p:spPr>
          <a:xfrm>
            <a:off x="543808" y="801283"/>
            <a:ext cx="803458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86F89C78-98E2-B8C5-7839-3BD268A25888}"/>
              </a:ext>
            </a:extLst>
          </p:cNvPr>
          <p:cNvSpPr txBox="1">
            <a:spLocks/>
          </p:cNvSpPr>
          <p:nvPr/>
        </p:nvSpPr>
        <p:spPr>
          <a:xfrm>
            <a:off x="-46009" y="-51758"/>
            <a:ext cx="9247517" cy="8530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The Challenge of Mode Entrapment</a:t>
            </a:r>
          </a:p>
        </p:txBody>
      </p:sp>
    </p:spTree>
    <p:extLst>
      <p:ext uri="{BB962C8B-B14F-4D97-AF65-F5344CB8AC3E}">
        <p14:creationId xmlns:p14="http://schemas.microsoft.com/office/powerpoint/2010/main" val="4202275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C9ADC-EFDB-13DE-C9D3-1DF8D694C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009" y="-51758"/>
            <a:ext cx="9247517" cy="853036"/>
          </a:xfr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7600" bIns="36000" anchor="b"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Overcoming Entrapment: Parallel Tempering</a:t>
            </a:r>
            <a:endParaRPr lang="en-US" sz="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A64D77-03B2-F203-5A54-D788EF3DE9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6330" y="874749"/>
                <a:ext cx="8708995" cy="2316637"/>
              </a:xfrm>
            </p:spPr>
            <p:txBody>
              <a:bodyPr vert="horz" lIns="68580" tIns="34290" rIns="68580" bIns="3429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Parallel Tempering resolves mode entrapment by simulating </a:t>
                </a:r>
                <a14:m>
                  <m:oMath xmlns:m="http://schemas.openxmlformats.org/officeDocument/2006/math">
                    <m:r>
                      <a:rPr lang="en-IN" sz="21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𝑁</m:t>
                    </m:r>
                  </m:oMath>
                </a14:m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 parallel Markov chains simultaneously across a temperature ladder.</a:t>
                </a:r>
              </a:p>
              <a:p>
                <a:pPr marL="0" indent="0">
                  <a:buNone/>
                </a:pPr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algorithm flattens the energy landscape at higher temperatures, targeting the modified density</a:t>
                </a:r>
                <a14:m>
                  <m:oMath xmlns:m="http://schemas.openxmlformats.org/officeDocument/2006/math">
                    <m:r>
                      <a:rPr lang="en-IN" sz="2100" b="0" i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.</m:t>
                    </m:r>
                  </m:oMath>
                </a14:m>
                <a:endParaRPr lang="en-US" sz="2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State-swapping enables the target chain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1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en-IN" sz="21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𝑇</m:t>
                        </m:r>
                      </m:e>
                      <m:sub>
                        <m:r>
                          <a:rPr lang="en-IN" sz="21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1</m:t>
                        </m:r>
                      </m:sub>
                    </m:sSub>
                    <m:r>
                      <a:rPr lang="en-IN" sz="21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=1</m:t>
                    </m:r>
                  </m:oMath>
                </a14:m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to successfully pass through low-probability barriers and transition between fully disconnected modes.</a:t>
                </a:r>
                <a:endParaRPr lang="en-US" sz="25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A64D77-03B2-F203-5A54-D788EF3DE9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330" y="874749"/>
                <a:ext cx="8708995" cy="2316637"/>
              </a:xfrm>
              <a:blipFill>
                <a:blip r:embed="rId2"/>
                <a:stretch>
                  <a:fillRect l="-1120" t="-3412" r="-8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524F123-D8C7-E5A4-ED38-DD97A23FEE13}"/>
                  </a:ext>
                </a:extLst>
              </p:cNvPr>
              <p:cNvSpPr/>
              <p:nvPr/>
            </p:nvSpPr>
            <p:spPr>
              <a:xfrm>
                <a:off x="408373" y="3027285"/>
                <a:ext cx="8398368" cy="375606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3810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t"/>
              <a:lstStyle/>
              <a:p>
                <a:pPr lvl="1">
                  <a:lnSpc>
                    <a:spcPct val="150000"/>
                  </a:lnSpc>
                </a:pPr>
                <a:r>
                  <a:rPr lang="en-US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Standard Parallel Tempering Algorithm</a:t>
                </a:r>
              </a:p>
              <a:p>
                <a:pPr lvl="1">
                  <a:lnSpc>
                    <a:spcPct val="150000"/>
                  </a:lnSpc>
                </a:pPr>
                <a:endParaRPr lang="en-US" sz="5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alt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</a:t>
                </a:r>
                <a:r>
                  <a:rPr lang="en-US" altLang="en-US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Initialization:</a:t>
                </a:r>
                <a:r>
                  <a:rPr lang="en-US" alt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Initialize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parallel Markov chains across a predefined temperature ladder:</a:t>
                </a:r>
                <a:r>
                  <a:rPr lang="fr-FR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𝑇</m:t>
                        </m:r>
                      </m:e>
                      <m:sub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1</m:t>
                        </m:r>
                      </m:sub>
                    </m:sSub>
                    <m:r>
                      <a:rPr lang="fr-FR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=1&lt;</m:t>
                    </m:r>
                    <m:sSub>
                      <m:sSubPr>
                        <m:ctrlP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𝑇</m:t>
                        </m:r>
                      </m:e>
                      <m:sub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2</m:t>
                        </m:r>
                      </m:sub>
                    </m:sSub>
                    <m:r>
                      <a:rPr lang="fr-FR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&lt;…&lt;</m:t>
                    </m:r>
                    <m:sSub>
                      <m:sSubPr>
                        <m:ctrlP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𝑇</m:t>
                        </m:r>
                      </m:e>
                      <m:sub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r>
                  <a:rPr lang="en-US" alt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2. </a:t>
                </a:r>
                <a:r>
                  <a:rPr lang="en-US" altLang="en-US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Local Exploration Step:</a:t>
                </a:r>
                <a:r>
                  <a:rPr lang="en-US" alt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Advance each chain</a:t>
                </a:r>
                <a14:m>
                  <m:oMath xmlns:m="http://schemas.openxmlformats.org/officeDocument/2006/math">
                    <m:r>
                      <a:rPr lang="en-IN" alt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independently using a standard MCMC transition targeting its tempered density:</a:t>
                </a:r>
              </a:p>
              <a:p>
                <a:pPr algn="ctr"/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𝜋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∝</m:t>
                    </m:r>
                    <m:func>
                      <m:func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−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𝑈</m:t>
                            </m:r>
                            <m:d>
                              <m:d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lt"/>
                                    <a:cs typeface="+mn-lt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lt"/>
                                    <a:cs typeface="+mn-lt"/>
                                  </a:rPr>
                                  <m:t>𝑥</m:t>
                                </m:r>
                              </m:e>
                            </m:d>
                            <m:r>
                              <m:rPr>
                                <m:lit/>
                              </m:r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lt"/>
                                    <a:cs typeface="+mn-lt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lt"/>
                                    <a:cs typeface="+mn-lt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lt"/>
                                    <a:cs typeface="+mn-lt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alt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alt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3. </a:t>
                </a:r>
                <a:r>
                  <a:rPr lang="en-US" altLang="en-US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Swap Step:</a:t>
                </a:r>
                <a:r>
                  <a:rPr lang="en-US" alt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Periodically propose state swaps between adjacent chains (</a:t>
                </a:r>
                <a14:m>
                  <m:oMath xmlns:m="http://schemas.openxmlformats.org/officeDocument/2006/math">
                    <m:r>
                      <a:rPr lang="en-IN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IN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Accept the </a:t>
                </a:r>
                <a:r>
                  <a:rPr lang="en-US" altLang="en-US" sz="2000" dirty="0" err="1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swap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IN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↔</m:t>
                    </m:r>
                    <m:sSub>
                      <m:sSub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  <m: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with probability: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en-US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swap</m:t>
                          </m:r>
                        </m:sub>
                      </m:sSub>
                      <m:r>
                        <a:rPr lang="en-US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en-US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1,</m:t>
                              </m:r>
                              <m:func>
                                <m:funcPr>
                                  <m:ctrlPr>
                                    <a:rPr lang="en-US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en-US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ctrlPr>
                                            <a:rPr lang="en-US" alt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Calibri" panose="020F050202020403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alt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Calibri" panose="020F0502020204030204" pitchFamily="34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alt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Calibri" panose="020F0502020204030204" pitchFamily="34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lang="en-US" altLang="en-US" sz="20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Calibri" panose="020F0502020204030204" pitchFamily="34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20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Calibri" panose="020F0502020204030204" pitchFamily="34" charset="0"/>
                                                    </a:rPr>
                                                    <m:t>𝑇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20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Calibri" panose="020F0502020204030204" pitchFamily="34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  <m:r>
                                            <a:rPr lang="en-US" alt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Calibri" panose="020F0502020204030204" pitchFamily="34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lang="en-US" alt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Calibri" panose="020F0502020204030204" pitchFamily="34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alt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Calibri" panose="020F0502020204030204" pitchFamily="34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lang="en-US" altLang="en-US" sz="20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Calibri" panose="020F0502020204030204" pitchFamily="34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20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Calibri" panose="020F0502020204030204" pitchFamily="34" charset="0"/>
                                                    </a:rPr>
                                                    <m:t>𝑇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20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Calibri" panose="020F0502020204030204" pitchFamily="34" charset="0"/>
                                                    </a:rPr>
                                                    <m:t>𝑘</m:t>
                                                  </m:r>
                                                  <m:r>
                                                    <a:rPr lang="en-US" altLang="en-US" sz="20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Calibri" panose="020F0502020204030204" pitchFamily="34" charset="0"/>
                                                    </a:rPr>
                                                    <m:t>+1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d>
                                      <m:d>
                                        <m:dPr>
                                          <m:ctrlPr>
                                            <a:rPr lang="en-US" alt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Calibri" panose="020F050202020403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Calibri" panose="020F0502020204030204" pitchFamily="34" charset="0"/>
                                            </a:rPr>
                                            <m:t>𝑈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Calibri" panose="020F0502020204030204" pitchFamily="34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en-US" sz="20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Calibri" panose="020F0502020204030204" pitchFamily="34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20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Calibri" panose="020F0502020204030204" pitchFamily="34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20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Calibri" panose="020F0502020204030204" pitchFamily="34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r>
                                            <a:rPr lang="en-US" alt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Calibri" panose="020F0502020204030204" pitchFamily="34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Calibri" panose="020F0502020204030204" pitchFamily="34" charset="0"/>
                                            </a:rPr>
                                            <m:t>𝑈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Calibri" panose="020F0502020204030204" pitchFamily="34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en-US" sz="20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Calibri" panose="020F0502020204030204" pitchFamily="34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20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Calibri" panose="020F0502020204030204" pitchFamily="34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20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Calibri" panose="020F0502020204030204" pitchFamily="34" charset="0"/>
                                                    </a:rPr>
                                                    <m:t>𝑘</m:t>
                                                  </m:r>
                                                  <m:r>
                                                    <a:rPr lang="en-US" altLang="en-US" sz="20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Calibri" panose="020F0502020204030204" pitchFamily="34" charset="0"/>
                                                    </a:rPr>
                                                    <m:t>+1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524F123-D8C7-E5A4-ED38-DD97A23FEE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73" y="3027285"/>
                <a:ext cx="8398368" cy="3756069"/>
              </a:xfrm>
              <a:prstGeom prst="rect">
                <a:avLst/>
              </a:prstGeom>
              <a:blipFill>
                <a:blip r:embed="rId3"/>
                <a:stretch>
                  <a:fillRect l="-578" r="-578"/>
                </a:stretch>
              </a:blipFill>
              <a:ln w="3810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2DF540A-960D-5D09-FFCD-5F3EE1C9F8B0}"/>
              </a:ext>
            </a:extLst>
          </p:cNvPr>
          <p:cNvCxnSpPr>
            <a:cxnSpLocks/>
          </p:cNvCxnSpPr>
          <p:nvPr/>
        </p:nvCxnSpPr>
        <p:spPr>
          <a:xfrm>
            <a:off x="408373" y="3639113"/>
            <a:ext cx="8398367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2841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7DE1D67-28E5-AA3A-F74D-BA08C6F8F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4278" y="2868706"/>
            <a:ext cx="3366422" cy="39892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AF2B60-75EC-49EB-09CE-5715590F0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976282"/>
            <a:ext cx="3366422" cy="38817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5E218D-23AE-C4E8-BAF8-AD5BF65B6230}"/>
              </a:ext>
            </a:extLst>
          </p:cNvPr>
          <p:cNvSpPr txBox="1"/>
          <p:nvPr/>
        </p:nvSpPr>
        <p:spPr>
          <a:xfrm>
            <a:off x="227293" y="993448"/>
            <a:ext cx="8558784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 highly multimodal 4-component Gaussian mixture model.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MH Failure (Left):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The standard MH algorithm remains trapped locally, yielding a severely correlated and incomplete representation of the target density.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PT Resolution (Right):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2000" dirty="0"/>
              <a:t>Parallel Tempering resolves mode entrapment by using high-temperature chains to help the target chain escape local minima and sample multiple isolated modes.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135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3447D20-5600-FAEB-FCD2-6EEEB5A27257}"/>
              </a:ext>
            </a:extLst>
          </p:cNvPr>
          <p:cNvSpPr txBox="1">
            <a:spLocks/>
          </p:cNvSpPr>
          <p:nvPr/>
        </p:nvSpPr>
        <p:spPr>
          <a:xfrm>
            <a:off x="-46009" y="-51758"/>
            <a:ext cx="9247517" cy="8530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Empirical Comparison: MH vs. PT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464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44935-561F-EBE8-31F7-91D6CF35B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842" y="1024947"/>
            <a:ext cx="8584706" cy="1771519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>
              <a:buNone/>
            </a:pPr>
            <a:r>
              <a:rPr lang="en-US" alt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Parallel Tempering relies on fractional power scaling to geometrically thicken target tails, which is effective for rapidly decaying distributions (e.g., Gaussian) but fails for those exhibiting polynomial decay</a:t>
            </a: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alt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heavy-tailed distributions, high temperatures break the algorithm by yielding improper, non-integrable probability densities.</a:t>
            </a:r>
          </a:p>
          <a:p>
            <a:pPr marL="0" indent="0">
              <a:buNone/>
            </a:pPr>
            <a:endParaRPr lang="en-US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CC0F74-9FD1-20F5-276E-D3C937B79D31}"/>
              </a:ext>
            </a:extLst>
          </p:cNvPr>
          <p:cNvSpPr txBox="1">
            <a:spLocks/>
          </p:cNvSpPr>
          <p:nvPr/>
        </p:nvSpPr>
        <p:spPr>
          <a:xfrm>
            <a:off x="-46009" y="-51758"/>
            <a:ext cx="9247517" cy="8530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Integrability Limitation of Temperature Scaling</a:t>
            </a:r>
            <a:endParaRPr lang="en-US" sz="788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408CC8-4D4C-79DC-AB0E-D56EB2F4F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1B003A6-4357-243C-021C-FA4A0C890C1F}"/>
                  </a:ext>
                </a:extLst>
              </p:cNvPr>
              <p:cNvSpPr/>
              <p:nvPr/>
            </p:nvSpPr>
            <p:spPr>
              <a:xfrm>
                <a:off x="365759" y="2972504"/>
                <a:ext cx="8412479" cy="3652935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3810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t"/>
              <a:lstStyle/>
              <a:p>
                <a:r>
                  <a:rPr lang="en-US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Theoretical Counter-Example</a:t>
                </a:r>
              </a:p>
              <a:p>
                <a:endParaRPr lang="en-US" sz="8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Consider a standard Cauchy distribution as the target density, where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𝜋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∝</m:t>
                    </m:r>
                    <m:sSup>
                      <m:sSup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</m:sSup>
                    <m:r>
                      <a:rPr lang="en-I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 tempered density becomes: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∝</m:t>
                      </m:r>
                      <m:f>
                        <m:f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𝑇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en-US" sz="20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altLang="en-US" sz="20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 be a proper probability measure, its integral must converge: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alt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&lt;∞⇒</m:t>
                      </m:r>
                      <m:r>
                        <a:rPr lang="en-US" alt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&lt;2</m:t>
                      </m:r>
                    </m:oMath>
                  </m:oMathPara>
                </a14:m>
                <a:endParaRPr lang="en-IN" alt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lang="en-US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Conclusion:</a:t>
                </a: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If crossing energy barriers requires a temperature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𝑇</m:t>
                    </m:r>
                    <m:r>
                      <a:rPr lang="en-I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≥2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 to cross, the high-temperature chain diverges to infinity.</a:t>
                </a: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1B003A6-4357-243C-021C-FA4A0C890C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59" y="2972504"/>
                <a:ext cx="8412479" cy="3652935"/>
              </a:xfrm>
              <a:prstGeom prst="rect">
                <a:avLst/>
              </a:prstGeom>
              <a:blipFill>
                <a:blip r:embed="rId2"/>
                <a:stretch>
                  <a:fillRect l="-866" t="-826"/>
                </a:stretch>
              </a:blipFill>
              <a:ln w="3810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571D56-26D9-91EC-9136-E1390FEE3590}"/>
              </a:ext>
            </a:extLst>
          </p:cNvPr>
          <p:cNvCxnSpPr>
            <a:cxnSpLocks/>
          </p:cNvCxnSpPr>
          <p:nvPr/>
        </p:nvCxnSpPr>
        <p:spPr>
          <a:xfrm>
            <a:off x="365758" y="3429000"/>
            <a:ext cx="8412479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5807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47F05D-3885-395C-2E27-DB3E381D6A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5468" y="1421483"/>
                <a:ext cx="8513064" cy="4351338"/>
              </a:xfrm>
            </p:spPr>
            <p:txBody>
              <a:bodyPr vert="horz" lIns="68580" tIns="34290" rIns="68580" bIns="34290" rtlCol="0" anchor="t"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Instead of thermal flattening, we structurally convexify the potential energy landscape.</a:t>
                </a:r>
              </a:p>
              <a:p>
                <a:pPr marL="0" indent="0">
                  <a:buNone/>
                </a:pPr>
                <a:endParaRPr lang="en-US" sz="2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Moreau-</a:t>
                </a:r>
                <a:r>
                  <a:rPr lang="en-US" sz="21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Yosida</a:t>
                </a:r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envelope</a:t>
                </a:r>
                <a14:m>
                  <m:oMath xmlns:m="http://schemas.openxmlformats.org/officeDocument/2006/math">
                    <m:r>
                      <a:rPr lang="en-IN" sz="2100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sSubSup>
                      <m:sSubSupPr>
                        <m:ctrlPr>
                          <a:rPr lang="en-US" sz="21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en-US" sz="21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𝑀</m:t>
                        </m:r>
                      </m:e>
                      <m:sub>
                        <m:r>
                          <a:rPr lang="en-US" sz="21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𝑈</m:t>
                        </m:r>
                      </m:sub>
                      <m:sup>
                        <m:r>
                          <a:rPr lang="en-US" sz="21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𝑡</m:t>
                        </m:r>
                      </m:sup>
                    </m:sSubSup>
                    <m:d>
                      <m:dPr>
                        <m:ctrlPr>
                          <a:rPr lang="en-US" sz="21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en-IN" sz="21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acts as a smoothed, continuously differentiable approximation of the target potential </a:t>
                </a: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𝑈</m:t>
                    </m:r>
                    <m:d>
                      <m:dPr>
                        <m:ctrlPr>
                          <a:rPr lang="en-US" sz="21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1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en-US" sz="21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=−</m:t>
                    </m:r>
                    <m:func>
                      <m:funcPr>
                        <m:ctrlPr>
                          <a:rPr lang="en-US" sz="21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100" i="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sz="2100" i="1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sz="2100" i="1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en-US" sz="2100" i="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2100" i="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defined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1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𝑀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𝑈</m:t>
                          </m:r>
                        </m:sub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</m:t>
                          </m:r>
                        </m:sup>
                      </m:sSubSup>
                      <m:d>
                        <m:dPr>
                          <m:ctrlPr>
                            <a:rPr lang="en-US" sz="21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sz="21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sz="21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1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1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inf</m:t>
                              </m:r>
                            </m:e>
                            <m:lim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𝑑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𝑈</m:t>
                              </m:r>
                              <m:d>
                                <m:d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m:rPr>
                                  <m:lit/>
                                </m:rPr>
                                <a:rPr lang="en-US" sz="21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|</m:t>
                              </m:r>
                              <m:r>
                                <m:rPr>
                                  <m:lit/>
                                </m:rPr>
                                <a:rPr lang="en-IN" sz="21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|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−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IN" sz="21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|</m:t>
                              </m:r>
                              <m:sSup>
                                <m:sSup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lit/>
                                    </m:rPr>
                                    <a:rPr lang="en-US" sz="21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IN" sz="21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,</m:t>
                          </m:r>
                        </m:e>
                      </m:func>
                    </m:oMath>
                  </m:oMathPara>
                </a14:m>
                <a:endParaRPr lang="en-US" sz="2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𝑡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&gt;0</m:t>
                    </m:r>
                  </m:oMath>
                </a14:m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 is the smoothing parameter.</a:t>
                </a:r>
              </a:p>
              <a:p>
                <a:pPr marL="0" indent="0">
                  <a:buNone/>
                </a:pPr>
                <a:endParaRPr lang="en-US" sz="2100" baseline="-25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It acts as a global lower bound to the original function,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1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en-IN" sz="21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21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𝑀</m:t>
                        </m:r>
                      </m:e>
                      <m:sub>
                        <m:r>
                          <a:rPr lang="en-US" sz="21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𝑈</m:t>
                        </m:r>
                      </m:sub>
                      <m:sup>
                        <m:r>
                          <a:rPr lang="en-US" sz="21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𝑡</m:t>
                        </m:r>
                      </m:sup>
                    </m:sSubSup>
                    <m:d>
                      <m:dPr>
                        <m:ctrlPr>
                          <a:rPr lang="en-US" sz="21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≤</m:t>
                    </m:r>
                    <m:r>
                      <a:rPr lang="en-US" sz="21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𝑈</m:t>
                    </m:r>
                    <m:d>
                      <m:dPr>
                        <m:ctrlPr>
                          <a:rPr lang="en-US" sz="21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and converges pointwise to the original potential as the smoothing parameter approaches zero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1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𝑀</m:t>
                        </m:r>
                      </m:e>
                      <m:sub>
                        <m:r>
                          <a:rPr lang="en-US" sz="21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𝑈</m:t>
                        </m:r>
                      </m:sub>
                      <m:sup>
                        <m:r>
                          <a:rPr lang="en-US" sz="21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𝑡</m:t>
                        </m:r>
                      </m:sup>
                    </m:sSubSup>
                    <m:d>
                      <m:dPr>
                        <m:ctrlPr>
                          <a:rPr lang="en-US" sz="21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→</m:t>
                    </m:r>
                    <m:r>
                      <a:rPr lang="en-US" sz="21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𝑈</m:t>
                    </m:r>
                    <m:d>
                      <m:dPr>
                        <m:ctrlPr>
                          <a:rPr lang="en-US" sz="21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𝑡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→0</m:t>
                    </m:r>
                  </m:oMath>
                </a14:m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47F05D-3885-395C-2E27-DB3E381D6A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5468" y="1421483"/>
                <a:ext cx="8513064" cy="4351338"/>
              </a:xfrm>
              <a:blipFill>
                <a:blip r:embed="rId2"/>
                <a:stretch>
                  <a:fillRect l="-1146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E195A9B1-99B8-CEE4-4708-04B140D60816}"/>
              </a:ext>
            </a:extLst>
          </p:cNvPr>
          <p:cNvSpPr txBox="1">
            <a:spLocks/>
          </p:cNvSpPr>
          <p:nvPr/>
        </p:nvSpPr>
        <p:spPr>
          <a:xfrm>
            <a:off x="-46009" y="-51758"/>
            <a:ext cx="9247517" cy="8530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The Solution: Moreau-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Yosida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Envelopes</a:t>
            </a:r>
          </a:p>
        </p:txBody>
      </p:sp>
    </p:spTree>
    <p:extLst>
      <p:ext uri="{BB962C8B-B14F-4D97-AF65-F5344CB8AC3E}">
        <p14:creationId xmlns:p14="http://schemas.microsoft.com/office/powerpoint/2010/main" val="2235082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88583DE-647D-45EA-5E1C-94480EFB7A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57" y="801278"/>
            <a:ext cx="7800622" cy="422227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12F3F1D3-7479-424C-C058-36F98EB1F0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46009" y="-51758"/>
                <a:ext cx="9247517" cy="85303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lIns="91440" tIns="45720" rIns="91440" bIns="45720" rtlCol="0" anchor="b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3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Effect of Smoothing Parameter </a:t>
                </a:r>
                <a14:m>
                  <m:oMath xmlns:m="http://schemas.openxmlformats.org/officeDocument/2006/math">
                    <m:r>
                      <a:rPr lang="en-IN" sz="36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𝑡</m:t>
                    </m:r>
                  </m:oMath>
                </a14:m>
                <a:endParaRPr lang="en-US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12F3F1D3-7479-424C-C058-36F98EB1F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009" y="-51758"/>
                <a:ext cx="9247517" cy="853036"/>
              </a:xfrm>
              <a:prstGeom prst="rect">
                <a:avLst/>
              </a:prstGeom>
              <a:blipFill>
                <a:blip r:embed="rId3"/>
                <a:stretch>
                  <a:fillRect b="-26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E5661C-D7E5-B351-C2C8-A14DEC03E98A}"/>
                  </a:ext>
                </a:extLst>
              </p:cNvPr>
              <p:cNvSpPr txBox="1"/>
              <p:nvPr/>
            </p:nvSpPr>
            <p:spPr>
              <a:xfrm>
                <a:off x="152401" y="5023556"/>
                <a:ext cx="8686800" cy="1908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lang="en-US" alt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At </a:t>
                </a:r>
                <a14:m>
                  <m:oMath xmlns:m="http://schemas.openxmlformats.org/officeDocument/2006/math">
                    <m:r>
                      <a:rPr lang="en-IN" altLang="en-US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𝑡</m:t>
                    </m:r>
                    <m:r>
                      <a:rPr lang="en-IN" altLang="en-US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=0</m:t>
                    </m:r>
                  </m:oMath>
                </a14:m>
                <a:r>
                  <a:rPr lang="en-US" alt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the target potential exhibits multimodality with four distinct local minima. As </a:t>
                </a:r>
                <a14:m>
                  <m:oMath xmlns:m="http://schemas.openxmlformats.org/officeDocument/2006/math">
                    <m:r>
                      <a:rPr lang="en-IN" altLang="en-US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𝑡</m:t>
                    </m:r>
                  </m:oMath>
                </a14:m>
                <a:r>
                  <a:rPr lang="en-US" alt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increases, these separated local minima are gradually smoothed and merged into a single, fully convex shape with one global minimum.</a:t>
                </a:r>
              </a:p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lang="en-US" alt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Consequently, the corresponding probability density broadens into a wide, unimodal distribution, allowing for seamless transition.</a:t>
                </a:r>
              </a:p>
              <a:p>
                <a:pPr algn="ctr"/>
                <a:endParaRPr lang="en-IN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E5661C-D7E5-B351-C2C8-A14DEC03E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1" y="5023556"/>
                <a:ext cx="8686800" cy="1908215"/>
              </a:xfrm>
              <a:prstGeom prst="rect">
                <a:avLst/>
              </a:prstGeom>
              <a:blipFill>
                <a:blip r:embed="rId4"/>
                <a:stretch>
                  <a:fillRect l="-632" t="-15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897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FA6E16-9EEA-F9B0-E411-523DBB0A9C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3861" y="1398104"/>
                <a:ext cx="8556278" cy="4855059"/>
              </a:xfrm>
            </p:spPr>
            <p:txBody>
              <a:bodyPr vert="horz" lIns="68580" tIns="34290" rIns="68580" bIns="34290" rtlCol="0" anchor="t">
                <a:normAutofit/>
              </a:bodyPr>
              <a:lstStyle/>
              <a:p>
                <a:pPr lv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lang="en-US" altLang="en-US" sz="21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Non-Convexity (</a:t>
                </a:r>
                <a:r>
                  <a:rPr lang="en-US" altLang="en-US" sz="21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Habring</a:t>
                </a:r>
                <a:r>
                  <a:rPr lang="en-US" altLang="en-US" sz="21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et al.):</a:t>
                </a:r>
                <a:r>
                  <a:rPr lang="en-US" alt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The nonconvexity of a function </a:t>
                </a:r>
                <a14:m>
                  <m:oMath xmlns:m="http://schemas.openxmlformats.org/officeDocument/2006/math">
                    <m:r>
                      <a:rPr lang="en-US" altLang="en-US" sz="210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en-US" sz="2100" i="1" dirty="0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en-US" sz="21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1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en-US" sz="21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altLang="en-US" sz="210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en-US" sz="21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defined as the supremum of its deviation from convexity: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en-US" sz="21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𝑁𝐶</m:t>
                    </m:r>
                    <m:d>
                      <m:dPr>
                        <m:ctrlPr>
                          <a:rPr lang="en-US" altLang="en-US" sz="21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IN" altLang="en-US" sz="21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𝑈</m:t>
                        </m:r>
                      </m:e>
                    </m:d>
                    <m:r>
                      <a:rPr lang="en-US" altLang="en-US" sz="21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≔</m:t>
                    </m:r>
                    <m:func>
                      <m:funcPr>
                        <m:ctrlPr>
                          <a:rPr lang="en-US" altLang="en-US" sz="21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en-US" sz="21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en-US" sz="2100" i="0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sup</m:t>
                            </m:r>
                          </m:e>
                          <m:lim>
                            <m:r>
                              <a:rPr lang="en-US" altLang="en-US" sz="21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  <m:r>
                              <a:rPr lang="en-US" altLang="en-US" sz="21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,</m:t>
                            </m:r>
                            <m:r>
                              <a:rPr lang="en-US" altLang="en-US" sz="21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𝑦</m:t>
                            </m:r>
                            <m:r>
                              <a:rPr lang="en-US" altLang="en-US" sz="21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altLang="en-US" sz="2100" i="1" dirty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sz="2100" i="1" dirty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altLang="en-US" sz="2100" i="1" dirty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𝑑</m:t>
                                </m:r>
                              </m:sup>
                            </m:sSup>
                            <m:r>
                              <a:rPr lang="en-US" altLang="en-US" sz="21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,</m:t>
                            </m:r>
                            <m:r>
                              <a:rPr lang="en-US" altLang="en-US" sz="21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𝜆</m:t>
                            </m:r>
                            <m:r>
                              <a:rPr lang="en-US" altLang="en-US" sz="21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∈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en-US" sz="2100" i="1" dirty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sz="2100" i="1" dirty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0,1</m:t>
                                </m:r>
                              </m:e>
                            </m:d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en-US" sz="21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IN" altLang="en-US" sz="2100" b="0" i="1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𝑈</m:t>
                            </m:r>
                            <m:d>
                              <m:dPr>
                                <m:ctrlPr>
                                  <a:rPr lang="en-US" altLang="en-US" sz="2100" b="0" i="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sz="2100" i="1" dirty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𝜆</m:t>
                                </m:r>
                                <m:r>
                                  <a:rPr lang="en-US" altLang="en-US" sz="2100" i="1" dirty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en-US" altLang="en-US" sz="2100" i="1" dirty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altLang="en-US" sz="2100" i="1" dirty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en-US" sz="2100" i="1" dirty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1−</m:t>
                                    </m:r>
                                    <m:r>
                                      <a:rPr lang="en-US" altLang="en-US" sz="2100" i="1" dirty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𝜆</m:t>
                                    </m:r>
                                  </m:e>
                                </m:d>
                                <m:r>
                                  <a:rPr lang="en-US" altLang="en-US" sz="2100" i="1" dirty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altLang="en-US" sz="21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−</m:t>
                            </m:r>
                            <m:r>
                              <a:rPr lang="en-US" altLang="en-US" sz="21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𝜆</m:t>
                            </m:r>
                            <m:r>
                              <a:rPr lang="en-IN" altLang="en-US" sz="2100" b="0" i="1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𝑈</m:t>
                            </m:r>
                            <m:d>
                              <m:dPr>
                                <m:ctrlPr>
                                  <a:rPr lang="en-US" altLang="en-US" sz="2100" b="0" i="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sz="2100" i="1" dirty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en-US" sz="21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en-US" sz="2100" i="1" dirty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sz="2100" i="1" dirty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1−</m:t>
                                </m:r>
                                <m:r>
                                  <a:rPr lang="en-US" altLang="en-US" sz="2100" i="1" dirty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𝜆</m:t>
                                </m:r>
                              </m:e>
                            </m:d>
                            <m:r>
                              <a:rPr lang="en-IN" altLang="en-US" sz="2100" b="0" i="1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𝑈</m:t>
                            </m:r>
                            <m:d>
                              <m:dPr>
                                <m:ctrlPr>
                                  <a:rPr lang="en-US" altLang="en-US" sz="2100" b="0" i="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sz="2100" i="1" dirty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nonconvexity of the envelope is strictly bounded by the original function: </a:t>
                </a:r>
                <a14:m>
                  <m:oMath xmlns:m="http://schemas.openxmlformats.org/officeDocument/2006/math">
                    <m:r>
                      <a:rPr lang="fr-FR" sz="21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𝑁𝐶</m:t>
                    </m:r>
                    <m:d>
                      <m:dPr>
                        <m:ctrlPr>
                          <a:rPr lang="fr-FR" sz="21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fr-FR" sz="21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fr-FR" sz="21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IN" sz="21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𝑈</m:t>
                            </m:r>
                          </m:sub>
                          <m:sup>
                            <m:r>
                              <a:rPr lang="fr-FR" sz="21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sup>
                        </m:sSubSup>
                      </m:e>
                    </m:d>
                    <m:r>
                      <a:rPr lang="fr-FR" sz="21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≤</m:t>
                    </m:r>
                    <m:r>
                      <a:rPr lang="fr-FR" sz="21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𝑁𝐶</m:t>
                    </m:r>
                    <m:d>
                      <m:dPr>
                        <m:ctrlPr>
                          <a:rPr lang="fr-FR" sz="21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IN" sz="21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𝑈</m:t>
                        </m:r>
                      </m:e>
                    </m:d>
                  </m:oMath>
                </a14:m>
                <a:r>
                  <a:rPr lang="en-US" altLang="en-US" sz="17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endParaRPr lang="en-US" sz="9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lang="en-US" altLang="en-US" sz="21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Integrability Guarantee:</a:t>
                </a:r>
                <a:r>
                  <a:rPr lang="en-US" alt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Moreau envelopes preserve the asymptotic growth bounds of </a:t>
                </a:r>
                <a14:m>
                  <m:oMath xmlns:m="http://schemas.openxmlformats.org/officeDocument/2006/math">
                    <m:r>
                      <a:rPr lang="en-IN" altLang="en-US" sz="2100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IN" alt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altLang="en-US" sz="21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guaranteeing a proper probability density for any arbitrarily large </a:t>
                </a:r>
                <a14:m>
                  <m:oMath xmlns:m="http://schemas.openxmlformats.org/officeDocument/2006/math">
                    <m:r>
                      <a:rPr lang="en-IN" sz="21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𝑡</m:t>
                    </m:r>
                    <m:r>
                      <a:rPr lang="en-IN" sz="21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&gt;0</m:t>
                    </m:r>
                  </m:oMath>
                </a14:m>
                <a:r>
                  <a:rPr 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r>
                  <a:rPr lang="en-US" altLang="en-US" sz="21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endParaRPr lang="en-US" altLang="en-US" sz="9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lang="en-US" altLang="en-US" sz="21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The Convexification Threshold:</a:t>
                </a:r>
                <a:r>
                  <a:rPr lang="en-US" alt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 maintain a strictly convex and continuously differentiable landscape, the smoothing parameter is theoretically bounded by </a:t>
                </a:r>
                <a14:m>
                  <m:oMath xmlns:m="http://schemas.openxmlformats.org/officeDocument/2006/math">
                    <m:r>
                      <a:rPr lang="en-US" altLang="en-US" sz="21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en-US" sz="2100" i="1" smtClean="0">
                        <a:latin typeface="Cambria Math" panose="02040503050406030204" pitchFamily="18" charset="0"/>
                      </a:rPr>
                      <m:t>&lt;1</m:t>
                    </m:r>
                    <m:r>
                      <m:rPr>
                        <m:lit/>
                      </m:rPr>
                      <a:rPr lang="en-US" altLang="en-US" sz="21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en-US" sz="21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IN" altLang="en-US" sz="2100" b="0" i="1" smtClean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r>
                  <a:rPr lang="en-US" alt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IN" altLang="en-US" sz="21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IN" altLang="en-US" sz="21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the maximum negative curvature of the target density.</a:t>
                </a: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endParaRPr lang="en-US" altLang="en-US" sz="2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2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2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FA6E16-9EEA-F9B0-E411-523DBB0A9C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3861" y="1398104"/>
                <a:ext cx="8556278" cy="4855059"/>
              </a:xfrm>
              <a:blipFill>
                <a:blip r:embed="rId2"/>
                <a:stretch>
                  <a:fillRect l="-997" t="-8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F127952D-9003-9AD0-F6D8-2F599FBB3100}"/>
              </a:ext>
            </a:extLst>
          </p:cNvPr>
          <p:cNvSpPr txBox="1">
            <a:spLocks/>
          </p:cNvSpPr>
          <p:nvPr/>
        </p:nvSpPr>
        <p:spPr>
          <a:xfrm>
            <a:off x="-46009" y="-51758"/>
            <a:ext cx="9247517" cy="8530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Theoretical Guarantees: Integrability &amp; Convexification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344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DE96CD-0DB8-87E4-BCAD-37FD339ED3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4086" y="1331842"/>
                <a:ext cx="8462350" cy="4432853"/>
              </a:xfrm>
            </p:spPr>
            <p:txBody>
              <a:bodyPr vert="horz" lIns="68580" tIns="34290" rIns="68580" bIns="34290" rtlCol="0" anchor="t">
                <a:noAutofit/>
              </a:bodyPr>
              <a:lstStyle/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MYPT integrates the structural convexification of Moreau Envelopes with the state-swapping mechanics of Parallel Tempering.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2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lang="en-US" altLang="en-US" sz="21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Smoothing Ladder:</a:t>
                </a:r>
                <a:r>
                  <a:rPr lang="en-US" alt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The standard temperature ladder is replaced by a smoothing parameter ladder:</a:t>
                </a: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altLang="en-US" sz="21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altLang="en-US" sz="21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fr-FR" altLang="en-US" sz="21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altLang="en-US" sz="2100" i="1" dirty="0">
                          <a:latin typeface="Cambria Math" panose="02040503050406030204" pitchFamily="18" charset="0"/>
                        </a:rPr>
                        <m:t>=0&lt;</m:t>
                      </m:r>
                      <m:sSub>
                        <m:sSubPr>
                          <m:ctrlPr>
                            <a:rPr lang="fr-FR" altLang="en-US" sz="21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altLang="en-US" sz="21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fr-FR" altLang="en-US" sz="21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altLang="en-US" sz="2100" i="1" dirty="0">
                          <a:latin typeface="Cambria Math" panose="02040503050406030204" pitchFamily="18" charset="0"/>
                        </a:rPr>
                        <m:t>&lt;…&lt;</m:t>
                      </m:r>
                      <m:sSub>
                        <m:sSubPr>
                          <m:ctrlPr>
                            <a:rPr lang="fr-FR" altLang="en-US" sz="21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altLang="en-US" sz="21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fr-FR" altLang="en-US" sz="21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altLang="en-US" sz="21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endParaRPr lang="en-US" altLang="en-US" sz="8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lang="en-US" altLang="en-US" sz="21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Modified Dynamics:</a:t>
                </a:r>
                <a:r>
                  <a:rPr lang="en-US" alt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Both intra-chain acceptance ratios and inter-chain swap probabilities are governed by the smoothed potential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1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en-US" altLang="en-US" sz="21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𝑀</m:t>
                        </m:r>
                      </m:e>
                      <m:sub>
                        <m:r>
                          <a:rPr lang="en-US" altLang="en-US" sz="21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𝑈</m:t>
                        </m:r>
                      </m:sub>
                      <m:sup>
                        <m:sSub>
                          <m:sSubPr>
                            <m:ctrlPr>
                              <a:rPr lang="en-US" altLang="en-US" sz="2100" i="1" dirty="0" err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en-US" sz="2100" i="1" dirty="0" err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en-US" sz="2100" i="1" dirty="0" err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𝑘</m:t>
                            </m:r>
                          </m:sub>
                        </m:sSub>
                      </m:sup>
                    </m:sSubSup>
                    <m:d>
                      <m:dPr>
                        <m:ctrlPr>
                          <a:rPr lang="en-US" altLang="en-US" sz="21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21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endParaRPr lang="en-US" altLang="en-US" sz="9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lang="en-US" altLang="en-US" sz="21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Global Exploration:</a:t>
                </a:r>
                <a:r>
                  <a:rPr lang="en-US" alt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Unlike standard PT which flattens target densities, MYPT physically convexifies the landscape. Isolated modes are completely merged at higher </a:t>
                </a:r>
                <a14:m>
                  <m:oMath xmlns:m="http://schemas.openxmlformats.org/officeDocument/2006/math">
                    <m:r>
                      <a:rPr lang="en-IN" altLang="en-US" sz="21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𝑡</m:t>
                    </m:r>
                  </m:oMath>
                </a14:m>
                <a:r>
                  <a:rPr lang="en-US" alt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enabling robust barrier crossing before samples anneals down to the exact target chain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1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en-US" sz="21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altLang="en-US" sz="21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en-US" sz="21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=0</m:t>
                    </m:r>
                    <m:r>
                      <a:rPr lang="en-IN" altLang="en-US" sz="21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.</m:t>
                    </m:r>
                  </m:oMath>
                </a14:m>
                <a:endParaRPr lang="en-US" altLang="en-US" sz="2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DE96CD-0DB8-87E4-BCAD-37FD339ED3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4086" y="1331842"/>
                <a:ext cx="8462350" cy="4432853"/>
              </a:xfrm>
              <a:blipFill>
                <a:blip r:embed="rId2"/>
                <a:stretch>
                  <a:fillRect l="-1153" t="-1099" r="-15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5B1054D4-804C-4BEE-EE58-E934C815C26E}"/>
              </a:ext>
            </a:extLst>
          </p:cNvPr>
          <p:cNvSpPr txBox="1">
            <a:spLocks/>
          </p:cNvSpPr>
          <p:nvPr/>
        </p:nvSpPr>
        <p:spPr>
          <a:xfrm>
            <a:off x="-46009" y="-51758"/>
            <a:ext cx="9247517" cy="8530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Moreau-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Yosida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Parallel Tempering (MYPT)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564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F580E-08E6-855F-33F9-05D60C206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208" y="904462"/>
            <a:ext cx="8560679" cy="1679712"/>
          </a:xfrm>
        </p:spPr>
        <p:txBody>
          <a:bodyPr vert="horz" lIns="68580" tIns="34290" rIns="68580" bIns="34290" rtlCol="0" anchor="t"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evaluate global mode-hopping capabilities, the algorithms are applied to a severely multimodal, asymmetric 2D Gaussian mixture comprising 20 distinct modes.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modes are randomly scattered across the parameter space with varying covariance structures, correlations, and component weights.</a:t>
            </a:r>
          </a:p>
          <a:p>
            <a:pPr marL="0" indent="0">
              <a:buNone/>
            </a:pPr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780236A-6811-8597-3CE2-4770C18E663B}"/>
              </a:ext>
            </a:extLst>
          </p:cNvPr>
          <p:cNvSpPr txBox="1">
            <a:spLocks/>
          </p:cNvSpPr>
          <p:nvPr/>
        </p:nvSpPr>
        <p:spPr>
          <a:xfrm>
            <a:off x="-46009" y="-51758"/>
            <a:ext cx="9247517" cy="8530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Example: 20-Mode Gaussian Mixture</a:t>
            </a: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02D03E-FF8F-0B01-FFA5-A9EFC33187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895" y="2687358"/>
            <a:ext cx="5546035" cy="408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748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D961AA-4AA6-50F5-704C-4357EA8975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8843" y="890731"/>
                <a:ext cx="8766313" cy="1344957"/>
              </a:xfrm>
            </p:spPr>
            <p:txBody>
              <a:bodyPr>
                <a:normAutofit/>
              </a:bodyPr>
              <a:lstStyle/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Visualizing the smoothed density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1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altLang="en-US" sz="21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𝜋</m:t>
                        </m:r>
                      </m:e>
                      <m:sup>
                        <m:r>
                          <a:rPr lang="en-US" altLang="en-US" sz="2100" i="1" dirty="0" err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𝑡</m:t>
                        </m:r>
                      </m:sup>
                    </m:sSup>
                    <m:d>
                      <m:dPr>
                        <m:ctrlPr>
                          <a:rPr lang="en-US" altLang="en-US" sz="21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21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  <m:r>
                          <a:rPr lang="en-US" altLang="en-US" sz="21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</m:t>
                        </m:r>
                        <m:r>
                          <a:rPr lang="en-US" altLang="en-US" sz="21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</m:d>
                    <m:r>
                      <a:rPr lang="en-US" altLang="en-US" sz="21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∝</m:t>
                    </m:r>
                    <m:func>
                      <m:funcPr>
                        <m:ctrlPr>
                          <a:rPr lang="en-US" altLang="en-US" sz="21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en-US" sz="2100" i="0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en-US" sz="21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altLang="en-US" sz="21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en-US" sz="2100" i="1" dirty="0" err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en-US" sz="2100" i="1" dirty="0" err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en-US" sz="2100" i="1" dirty="0" err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𝑈</m:t>
                                </m:r>
                              </m:sub>
                              <m:sup>
                                <m:r>
                                  <a:rPr lang="en-US" altLang="en-US" sz="2100" i="1" dirty="0" err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𝑡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en-US" sz="2100" i="1" dirty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sz="2100" i="1" dirty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en-US" altLang="en-US" sz="2100" i="1" dirty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,</m:t>
                                </m:r>
                                <m:r>
                                  <a:rPr lang="en-US" altLang="en-US" sz="2100" i="1" dirty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altLang="en-US" sz="21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explicitly demonstrates the geometric transformation induced by the Moreau envelopes.</a:t>
                </a:r>
                <a:endParaRPr lang="en-US" sz="2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IN" sz="2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D961AA-4AA6-50F5-704C-4357EA8975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8843" y="890731"/>
                <a:ext cx="8766313" cy="1344957"/>
              </a:xfrm>
              <a:blipFill>
                <a:blip r:embed="rId3"/>
                <a:stretch>
                  <a:fillRect l="-834" r="-8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F197942D-B9E2-BF29-F468-24EB50025F91}"/>
              </a:ext>
            </a:extLst>
          </p:cNvPr>
          <p:cNvSpPr txBox="1">
            <a:spLocks/>
          </p:cNvSpPr>
          <p:nvPr/>
        </p:nvSpPr>
        <p:spPr>
          <a:xfrm>
            <a:off x="-46009" y="-51758"/>
            <a:ext cx="9247517" cy="8530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Structural Transformation Across the Ladder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9C20C2-1943-F8C0-CE0D-91DFB44C45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26" y="1898374"/>
            <a:ext cx="7752522" cy="478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996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2DF399-4553-B6A1-63EF-57288449AD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1084" y="944218"/>
                <a:ext cx="8692199" cy="203752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Efficiency is stably evaluated over 100 replications using the Expected Squared Jump Distance (ESJD), penalizing highly correlated random walks by measuring the squared Euclidean distance between consecutive state.</a:t>
                </a:r>
                <a:endParaRPr lang="en-IN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IN" sz="2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Result- </a:t>
                </a:r>
                <a:r>
                  <a:rPr lang="en-US" alt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Average ESJD</a:t>
                </a:r>
                <a:r>
                  <a:rPr lang="en-US" altLang="en-US" sz="2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r>
                  <a:rPr lang="en-US" alt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Standard PT-RW (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17.584</m:t>
                    </m:r>
                  </m:oMath>
                </a14:m>
                <a:r>
                  <a:rPr lang="en-US" alt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IN" altLang="en-US" sz="20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alt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MYPT-RW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sz="2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28.449</m:t>
                    </m:r>
                  </m:oMath>
                </a14:m>
                <a:r>
                  <a:rPr lang="en-US" alt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Moreau convexification drastically improves transition efficiency across the complex landscape.</a:t>
                </a:r>
                <a:endParaRPr lang="en-IN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IN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2DF399-4553-B6A1-63EF-57288449AD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1084" y="944218"/>
                <a:ext cx="8692199" cy="2037521"/>
              </a:xfrm>
              <a:blipFill>
                <a:blip r:embed="rId3"/>
                <a:stretch>
                  <a:fillRect l="-771" t="-3293" r="-1052" b="-32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6D579C0E-CD88-316F-FDFF-D5E68C8000CD}"/>
              </a:ext>
            </a:extLst>
          </p:cNvPr>
          <p:cNvSpPr txBox="1">
            <a:spLocks/>
          </p:cNvSpPr>
          <p:nvPr/>
        </p:nvSpPr>
        <p:spPr>
          <a:xfrm>
            <a:off x="-46009" y="-51758"/>
            <a:ext cx="9247517" cy="8530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Sampling Results &amp; Quantitative Efficiency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60BB9A-2F81-6996-F8BB-153A28A2D5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8" y="3124679"/>
            <a:ext cx="4263887" cy="35382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8D83C9-AC29-2A82-009B-04D30EDCA7D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83" y="3124679"/>
            <a:ext cx="4340915" cy="353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448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65903-184F-DABD-DDB5-2D599BAB4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432" y="1426873"/>
            <a:ext cx="8375358" cy="4781878"/>
          </a:xfrm>
        </p:spPr>
        <p:txBody>
          <a:bodyPr vert="horz" lIns="68580" tIns="34290" rIns="68580" bIns="34290" rtlCol="0" anchor="t">
            <a:no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 Development:</a:t>
            </a:r>
            <a:r>
              <a:rPr lang="en-US" alt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Proposed and implemented Moreau-</a:t>
            </a:r>
            <a:r>
              <a:rPr lang="en-US" altLang="en-US" sz="2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Yosida</a:t>
            </a:r>
            <a:r>
              <a:rPr lang="en-US" alt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Parallel Tempering (MYPT), integrating swapping mechanism with structural convexification.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Theoretical Resolution:</a:t>
            </a:r>
            <a:r>
              <a:rPr lang="en-US" alt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Overcomes the integrability flaws of thermal scaling, guaranteeing proper, integrable target densities across all smoothing levels.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Geometric Transformation:</a:t>
            </a:r>
            <a:r>
              <a:rPr lang="en-US" alt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Replaces fractional power scaling with Moreau envelopes to systematically merge isolated minima and resolve mode entrapment.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Empirical Performance:</a:t>
            </a:r>
            <a:r>
              <a:rPr lang="en-US" alt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Achieves significantly superior transition efficiency (ESJD) and robust global exploration across severely multimodal landscapes.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BB976F-0363-B92E-CAA1-0F9412F41EB7}"/>
              </a:ext>
            </a:extLst>
          </p:cNvPr>
          <p:cNvSpPr txBox="1">
            <a:spLocks/>
          </p:cNvSpPr>
          <p:nvPr/>
        </p:nvSpPr>
        <p:spPr>
          <a:xfrm>
            <a:off x="-46009" y="-51758"/>
            <a:ext cx="9247517" cy="8530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Conclusion</a:t>
            </a:r>
          </a:p>
        </p:txBody>
      </p:sp>
    </p:spTree>
    <p:extLst>
      <p:ext uri="{BB962C8B-B14F-4D97-AF65-F5344CB8AC3E}">
        <p14:creationId xmlns:p14="http://schemas.microsoft.com/office/powerpoint/2010/main" val="1657957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BB7D3-0300-17FC-B4AD-15EDCE2F2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751" y="2740025"/>
            <a:ext cx="7886700" cy="68897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079751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DDA9CF3-38E0-B0D8-A10F-0C243A8D7A25}"/>
              </a:ext>
            </a:extLst>
          </p:cNvPr>
          <p:cNvSpPr txBox="1">
            <a:spLocks/>
          </p:cNvSpPr>
          <p:nvPr/>
        </p:nvSpPr>
        <p:spPr>
          <a:xfrm>
            <a:off x="-46009" y="-51758"/>
            <a:ext cx="9247517" cy="8530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References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4223B26-DEDE-E575-4E5D-2EF9D65518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8296" y="1216217"/>
            <a:ext cx="8338930" cy="4755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Habring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A., Falk, A., Zach, M., &amp; Pock, T. (2026).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"Diffusion at Absolute Zero: Langevin Sampling Using Successive Moreau Envelopes." </a:t>
            </a:r>
            <a:r>
              <a:rPr kumimoji="0" lang="en-US" altLang="en-US" sz="2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SIAM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(arXiv:2502.01358).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Vats, D., Shukla, A., &amp; Chi, E. C. (2025).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"MCMC Importance Sampling via Moreau-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Yosida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Envelopes." </a:t>
            </a:r>
            <a:r>
              <a:rPr kumimoji="0" lang="en-US" altLang="en-US" sz="21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arXiv</a:t>
            </a:r>
            <a:r>
              <a:rPr kumimoji="0" lang="en-US" altLang="en-US" sz="2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preprint arXiv:2501.02228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Durmus, A., </a:t>
            </a:r>
            <a:r>
              <a:rPr kumimoji="0" lang="en-US" altLang="en-US" sz="2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Moulines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E., &amp; Pereyra, M. (2018).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"Efficient Bayesian Computation by Proximal Markov Chain Monte Carlo." </a:t>
            </a:r>
            <a:r>
              <a:rPr kumimoji="0" lang="en-US" altLang="en-US" sz="2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SIAM Journal on Imaging Sciences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11(1), 473-506.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Park, T., &amp; Casella, G. (2008).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"The Bayesian Lasso." </a:t>
            </a:r>
            <a:r>
              <a:rPr kumimoji="0" lang="en-US" altLang="en-US" sz="2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Journal of the American Statistical Association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103(482), 681–686.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Geyer, C. J. (2005).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"Some Markov Chain Theory." </a:t>
            </a:r>
            <a:r>
              <a:rPr kumimoji="0" lang="en-US" altLang="en-US" sz="2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 8931 Class Notes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University of Minnesota.</a:t>
            </a:r>
          </a:p>
        </p:txBody>
      </p:sp>
    </p:spTree>
    <p:extLst>
      <p:ext uri="{BB962C8B-B14F-4D97-AF65-F5344CB8AC3E}">
        <p14:creationId xmlns:p14="http://schemas.microsoft.com/office/powerpoint/2010/main" val="356667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1421</TotalTime>
  <Words>1365</Words>
  <Application>Microsoft Office PowerPoint</Application>
  <PresentationFormat>On-screen Show (4:3)</PresentationFormat>
  <Paragraphs>108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  Overcoming Entrapment: Parallel Tempering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susanta</dc:creator>
  <cp:lastModifiedBy>Arihant Satpathy</cp:lastModifiedBy>
  <cp:revision>66</cp:revision>
  <dcterms:created xsi:type="dcterms:W3CDTF">2026-04-13T17:25:37Z</dcterms:created>
  <dcterms:modified xsi:type="dcterms:W3CDTF">2026-04-18T18:56:45Z</dcterms:modified>
</cp:coreProperties>
</file>